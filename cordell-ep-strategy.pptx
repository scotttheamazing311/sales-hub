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140000"/>
          </a:xfrm>
          <a:prstGeom prst="rect">
            <a:avLst/>
          </a:prstGeom>
          <a:solidFill>
            <a:srgbClr val="1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0" y="0"/>
            <a:ext cx="1200000" cy="140000"/>
          </a:xfrm>
          <a:prstGeom prst="rect">
            <a:avLst/>
          </a:prstGeom>
          <a:solidFill>
            <a:srgbClr val="3A9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00000" y="0"/>
            <a:ext cx="2600000" cy="140000"/>
          </a:xfrm>
          <a:prstGeom prst="rect">
            <a:avLst/>
          </a:prstGeom>
          <a:solidFill>
            <a:srgbClr val="1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00000" y="0"/>
            <a:ext cx="1400000" cy="140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000" y="0"/>
            <a:ext cx="800000" cy="140000"/>
          </a:xfrm>
          <a:prstGeom prst="rect">
            <a:avLst/>
          </a:prstGeom>
          <a:solidFill>
            <a:srgbClr val="3A9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0" y="0"/>
            <a:ext cx="600000" cy="140000"/>
          </a:xfrm>
          <a:prstGeom prst="rect">
            <a:avLst/>
          </a:prstGeom>
          <a:solidFill>
            <a:srgbClr val="EE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00000" y="0"/>
            <a:ext cx="600000" cy="140000"/>
          </a:xfrm>
          <a:prstGeom prst="rect">
            <a:avLst/>
          </a:prstGeom>
          <a:solidFill>
            <a:srgbClr val="1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00000" y="0"/>
            <a:ext cx="744000" cy="140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570000" y="800000"/>
            <a:ext cx="0" cy="3400000"/>
          </a:xfrm>
          <a:prstGeom prst="line">
            <a:avLst/>
          </a:prstGeom>
          <a:ln w="12700">
            <a:solidFill>
              <a:srgbClr val="14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00000" y="950000"/>
            <a:ext cx="37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3A93CF"/>
                </a:solidFill>
                <a:latin typeface="Satoshi"/>
              </a:rPr>
              <a:t>PREPARED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00" y="1150000"/>
            <a:ext cx="4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4364D"/>
                </a:solidFill>
                <a:latin typeface="Roslindale Display Condensed"/>
              </a:rPr>
              <a:t>Cordell &amp; Cordell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00" y="1680000"/>
            <a:ext cx="40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82828"/>
                </a:solidFill>
                <a:latin typeface="Roslindale Display Condensed"/>
              </a:rPr>
              <a:t>Family Law, Divorce &amp; Estate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00" y="3950000"/>
            <a:ext cx="37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B88"/>
                </a:solidFill>
                <a:latin typeface="Satoshi"/>
              </a:rPr>
              <a:t>June 2026  ·  Confidential — For Intended Recipients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00" y="4150000"/>
            <a:ext cx="37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14364D"/>
                </a:solidFill>
                <a:latin typeface="Roslindale Display Condensed"/>
              </a:rPr>
              <a:t>Rankings®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0000" y="1400000"/>
            <a:ext cx="39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>
                <a:solidFill>
                  <a:srgbClr val="282828"/>
                </a:solidFill>
                <a:latin typeface="Roslindale Display Condensed"/>
              </a:rPr>
              <a:t>We get you more than rankings.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0000" y="1750000"/>
            <a:ext cx="39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14364D"/>
                </a:solidFill>
                <a:latin typeface="Roslindale Display Condensed"/>
              </a:rPr>
              <a:t>We get you cases.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0000" y="2400000"/>
            <a:ext cx="500000" cy="36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0000" y="2550000"/>
            <a:ext cx="39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82828"/>
                </a:solidFill>
                <a:latin typeface="Satoshi"/>
              </a:rPr>
              <a:t>An SEO strategy to grow estate planning into 25% of monthly cases.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0" cy="140000"/>
          </a:xfrm>
          <a:prstGeom prst="rect">
            <a:avLst/>
          </a:prstGeom>
          <a:solidFill>
            <a:srgbClr val="1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0000" y="0"/>
            <a:ext cx="1200000" cy="140000"/>
          </a:xfrm>
          <a:prstGeom prst="rect">
            <a:avLst/>
          </a:prstGeom>
          <a:solidFill>
            <a:srgbClr val="3A9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00000" y="0"/>
            <a:ext cx="2600000" cy="140000"/>
          </a:xfrm>
          <a:prstGeom prst="rect">
            <a:avLst/>
          </a:prstGeom>
          <a:solidFill>
            <a:srgbClr val="1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00000" y="0"/>
            <a:ext cx="1400000" cy="140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000" y="0"/>
            <a:ext cx="800000" cy="140000"/>
          </a:xfrm>
          <a:prstGeom prst="rect">
            <a:avLst/>
          </a:prstGeom>
          <a:solidFill>
            <a:srgbClr val="3A9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0" y="0"/>
            <a:ext cx="600000" cy="140000"/>
          </a:xfrm>
          <a:prstGeom prst="rect">
            <a:avLst/>
          </a:prstGeom>
          <a:solidFill>
            <a:srgbClr val="EED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00000" y="0"/>
            <a:ext cx="600000" cy="140000"/>
          </a:xfrm>
          <a:prstGeom prst="rect">
            <a:avLst/>
          </a:prstGeom>
          <a:solidFill>
            <a:srgbClr val="1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00000" y="0"/>
            <a:ext cx="744000" cy="140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000" y="350000"/>
            <a:ext cx="8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282828"/>
                </a:solidFill>
                <a:latin typeface="Roslindale Display Condensed"/>
              </a:rPr>
              <a:t>The rare SEO play where the market is everyone.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900000"/>
            <a:ext cx="26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0000" y="900000"/>
            <a:ext cx="40000" cy="900000"/>
          </a:xfrm>
          <a:prstGeom prst="rect">
            <a:avLst/>
          </a:prstGeom>
          <a:solidFill>
            <a:srgbClr val="3A9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0" y="96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14364D"/>
                </a:solidFill>
                <a:latin typeface="Roslindale Display Condensed"/>
              </a:rPr>
              <a:t>80%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0000" y="1350000"/>
            <a:ext cx="228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0000" y="1370000"/>
            <a:ext cx="23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4364D"/>
                </a:solidFill>
                <a:latin typeface="Satoshi"/>
              </a:rPr>
              <a:t>of U.S. households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0" y="1540000"/>
            <a:ext cx="23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6B7B88"/>
                </a:solidFill>
                <a:latin typeface="Satoshi"/>
              </a:rPr>
              <a:t>could benefit from an estate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0000" y="900000"/>
            <a:ext cx="26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0000" y="900000"/>
            <a:ext cx="40000" cy="900000"/>
          </a:xfrm>
          <a:prstGeom prst="rect">
            <a:avLst/>
          </a:prstGeom>
          <a:solidFill>
            <a:srgbClr val="3A9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20000" y="96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14364D"/>
                </a:solidFill>
                <a:latin typeface="Roslindale Display Condensed"/>
              </a:rPr>
              <a:t>18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20000" y="1350000"/>
            <a:ext cx="228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220000" y="1370000"/>
            <a:ext cx="23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4364D"/>
                </a:solidFill>
                <a:latin typeface="Satoshi"/>
              </a:rPr>
              <a:t>offices live in 12 states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0000" y="1540000"/>
            <a:ext cx="23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6B7B88"/>
                </a:solidFill>
                <a:latin typeface="Satoshi"/>
              </a:rPr>
              <a:t>with 100+ in the firm to scale into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0000" y="900000"/>
            <a:ext cx="26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0000" y="900000"/>
            <a:ext cx="40000" cy="900000"/>
          </a:xfrm>
          <a:prstGeom prst="rect">
            <a:avLst/>
          </a:prstGeom>
          <a:solidFill>
            <a:srgbClr val="3A9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70000" y="96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14364D"/>
                </a:solidFill>
                <a:latin typeface="Roslindale Display Condensed"/>
              </a:rPr>
              <a:t>10x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70000" y="1350000"/>
            <a:ext cx="228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70000" y="1370000"/>
            <a:ext cx="23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14364D"/>
                </a:solidFill>
                <a:latin typeface="Satoshi"/>
              </a:rPr>
              <a:t>case growth target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0000" y="1540000"/>
            <a:ext cx="23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6B7B88"/>
                </a:solidFill>
                <a:latin typeface="Satoshi"/>
              </a:rPr>
              <a:t>EP projected to reach 25% of monthly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000" y="2000000"/>
            <a:ext cx="8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6B7B88"/>
                </a:solidFill>
                <a:latin typeface="Roslindale Display Condensed"/>
              </a:rPr>
              <a:t>Unlike divorce, a crisis-driven search, estate planning is planning-driven. Lower urgency, higher volume, and the brand that shows up first wins all three audience segments.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50000" y="2350000"/>
            <a:ext cx="8450000" cy="0"/>
          </a:xfrm>
          <a:prstGeom prst="line">
            <a:avLst/>
          </a:prstGeom>
          <a:ln w="254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0000" y="2450000"/>
            <a:ext cx="8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364D"/>
                </a:solidFill>
                <a:latin typeface="Roslindale Display Condensed"/>
              </a:rPr>
              <a:t>Strong foundation. Four critical gaps.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000" y="2800000"/>
            <a:ext cx="84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282828"/>
                </a:solidFill>
                <a:latin typeface="Satoshi"/>
              </a:rPr>
              <a:t>Cordell has the offices, the attorneys, and the authority to win this category. The site doesn't yet reflect that.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0000" y="3100000"/>
            <a:ext cx="205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0000" y="316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A93CF"/>
                </a:solidFill>
                <a:latin typeface="Roslindale Display Condensed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000" y="3430000"/>
            <a:ext cx="1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4364D"/>
                </a:solidFill>
                <a:latin typeface="Roslindale Display Condensed"/>
              </a:rPr>
              <a:t>Brand misalignment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000" y="3660000"/>
            <a:ext cx="18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B7B88"/>
                </a:solidFill>
                <a:latin typeface="Satoshi"/>
              </a:rPr>
              <a:t>Site reads as divorce-for-men. EP serves a broader, dual-decision-maker audience. Reviews &amp; testimonials skew family law.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80000" y="3100000"/>
            <a:ext cx="205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80000" y="316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A93CF"/>
                </a:solidFill>
                <a:latin typeface="Roslindale Display Condensed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80000" y="3430000"/>
            <a:ext cx="1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4364D"/>
                </a:solidFill>
                <a:latin typeface="Roslindale Display Condensed"/>
              </a:rPr>
              <a:t>Local footprint underbuilt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80000" y="3660000"/>
            <a:ext cx="18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B7B88"/>
                </a:solidFill>
                <a:latin typeface="Satoshi"/>
              </a:rPr>
              <a:t>19 offices launched, only 12 scheduler URLs. No dedicated city landing pages. GBP naming inconsistent.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0000" y="3100000"/>
            <a:ext cx="205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0000" y="316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A93CF"/>
                </a:solidFill>
                <a:latin typeface="Roslindale Display Condensed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10000" y="3430000"/>
            <a:ext cx="1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4364D"/>
                </a:solidFill>
                <a:latin typeface="Roslindale Display Condensed"/>
              </a:rPr>
              <a:t>Content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0000" y="3660000"/>
            <a:ext cx="18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B7B88"/>
                </a:solidFill>
                <a:latin typeface="Satoshi"/>
              </a:rPr>
              <a:t>One national service page. All EP blogs by a single author. Zero state-specific content — though EP law is state-driven.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40000" y="3100000"/>
            <a:ext cx="20500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40000" y="316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3A93CF"/>
                </a:solidFill>
                <a:latin typeface="Roslindale Display Condensed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40000" y="3430000"/>
            <a:ext cx="1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4364D"/>
                </a:solidFill>
                <a:latin typeface="Roslindale Display Condensed"/>
              </a:rPr>
              <a:t>UX &amp; conversion friction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40000" y="3660000"/>
            <a:ext cx="18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6B7B88"/>
                </a:solidFill>
                <a:latin typeface="Satoshi"/>
              </a:rPr>
              <a:t>EP buried under 'Divorce &amp; Assets' menu. Intake form lists EP last. No EP-specific social proof on the page.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0000" y="4850000"/>
            <a:ext cx="5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B7B88"/>
                </a:solidFill>
                <a:latin typeface="Satoshi"/>
              </a:rPr>
              <a:t>ESTATE PLANNING GROWTH STRATEGY  ·  CORDELL &amp; CORDELL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00000" y="4850000"/>
            <a:ext cx="1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>
                <a:solidFill>
                  <a:srgbClr val="6B7B88"/>
                </a:solidFill>
                <a:latin typeface="Satosh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" y="250000"/>
            <a:ext cx="84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Roslindale Display Condensed"/>
              </a:rPr>
              <a:t>Outranked on stars. Outweighed on reviews.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000" y="700000"/>
            <a:ext cx="84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8FA3BC"/>
                </a:solidFill>
                <a:latin typeface="Satoshi"/>
              </a:rPr>
              <a:t>Across nearly every market, the same gap shows up two ways — and it's not about content.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1050000"/>
            <a:ext cx="2000000" cy="95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1050000"/>
            <a:ext cx="200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1150000"/>
            <a:ext cx="1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Roslindale Display Condensed"/>
              </a:rPr>
              <a:t>18 of 19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0000" y="1530000"/>
            <a:ext cx="170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0000" y="15600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C6E005"/>
                </a:solidFill>
                <a:latin typeface="Satoshi"/>
              </a:rPr>
              <a:t>markets where Cordell trails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7500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8FA3BC"/>
                </a:solidFill>
                <a:latin typeface="Satoshi"/>
              </a:rPr>
              <a:t>on local star rating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0000" y="1050000"/>
            <a:ext cx="2000000" cy="95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50000" y="1050000"/>
            <a:ext cx="200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0000" y="1150000"/>
            <a:ext cx="1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Roslindale Display Condensed"/>
              </a:rPr>
              <a:t>1 of 19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50000" y="1530000"/>
            <a:ext cx="170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50000" y="15600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C6E005"/>
                </a:solidFill>
                <a:latin typeface="Satoshi"/>
              </a:rPr>
              <a:t>markets where Cordell leads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0000" y="17500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8FA3BC"/>
                </a:solidFill>
                <a:latin typeface="Satoshi"/>
              </a:rPr>
              <a:t>on review 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0000" y="1050000"/>
            <a:ext cx="2000000" cy="95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0000" y="1050000"/>
            <a:ext cx="200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0000" y="1150000"/>
            <a:ext cx="1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Roslindale Display Condensed"/>
              </a:rPr>
              <a:t>3.7 vs 4.9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50000" y="1530000"/>
            <a:ext cx="170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50000" y="15600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C6E005"/>
                </a:solidFill>
                <a:latin typeface="Satoshi"/>
              </a:rPr>
              <a:t>average star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0000" y="17500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8FA3BC"/>
                </a:solidFill>
                <a:latin typeface="Satoshi"/>
              </a:rPr>
              <a:t>Cordell vs. top EP competitor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50000" y="1050000"/>
            <a:ext cx="2000000" cy="95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50000" y="1050000"/>
            <a:ext cx="200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50000" y="1150000"/>
            <a:ext cx="1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Roslindale Display Condensed"/>
              </a:rPr>
              <a:t>2–13×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50000" y="1530000"/>
            <a:ext cx="170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50000" y="15600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1">
                <a:solidFill>
                  <a:srgbClr val="C6E005"/>
                </a:solidFill>
                <a:latin typeface="Satoshi"/>
              </a:rPr>
              <a:t>more 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0000" y="1750000"/>
            <a:ext cx="18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8FA3BC"/>
                </a:solidFill>
                <a:latin typeface="Satoshi"/>
              </a:rPr>
              <a:t>specialists have in the other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000" y="2200000"/>
            <a:ext cx="84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6E005"/>
                </a:solidFill>
                <a:latin typeface="Satoshi"/>
              </a:rPr>
              <a:t>WORST RATING GAPS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0000" y="2430000"/>
            <a:ext cx="2700000" cy="65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000" y="2470000"/>
            <a:ext cx="2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6E005"/>
                </a:solidFill>
                <a:latin typeface="Satoshi"/>
              </a:rPr>
              <a:t>Falls Church, 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000" y="264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Roslindale Display Condensed"/>
              </a:rPr>
              <a:t>2.7  vs  4.5  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000" y="2900000"/>
            <a:ext cx="250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8FA3BC"/>
                </a:solidFill>
                <a:latin typeface="Satoshi"/>
              </a:rPr>
              <a:t>46 vs 49 reviews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50000" y="2430000"/>
            <a:ext cx="2700000" cy="65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50000" y="2470000"/>
            <a:ext cx="2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6E005"/>
                </a:solidFill>
                <a:latin typeface="Satoshi"/>
              </a:rPr>
              <a:t>Orlando, FL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0000" y="264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Roslindale Display Condensed"/>
              </a:rPr>
              <a:t>3.1  vs  5.0  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0000" y="2900000"/>
            <a:ext cx="250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8FA3BC"/>
                </a:solidFill>
                <a:latin typeface="Satoshi"/>
              </a:rPr>
              <a:t>22 vs 495 reviews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0000" y="2430000"/>
            <a:ext cx="2700000" cy="65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50000" y="2470000"/>
            <a:ext cx="2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6E005"/>
                </a:solidFill>
                <a:latin typeface="Satoshi"/>
              </a:rPr>
              <a:t>Wichita, 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0000" y="264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Roslindale Display Condensed"/>
              </a:rPr>
              <a:t>3.1  vs  5.0  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50000" y="2900000"/>
            <a:ext cx="250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50" b="0">
                <a:solidFill>
                  <a:srgbClr val="8FA3BC"/>
                </a:solidFill>
                <a:latin typeface="Satoshi"/>
              </a:rPr>
              <a:t>39 vs 228 reviews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000" y="3250000"/>
            <a:ext cx="8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FFFFFF"/>
                </a:solidFill>
                <a:latin typeface="Roslindale Display Condensed"/>
              </a:rPr>
              <a:t>Local pack isn't a content problem.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000" y="3500000"/>
            <a:ext cx="8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6E005"/>
                </a:solidFill>
                <a:latin typeface="Roslindale Display Condensed"/>
              </a:rPr>
              <a:t>It's a reputation problem first.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000" y="3900000"/>
            <a:ext cx="5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8FA3BC"/>
                </a:solidFill>
                <a:latin typeface="Satoshi"/>
              </a:rPr>
              <a:t>Data pulled from Google Business Profile listings — ratings, review counts, and review share across all 19 Cordell markets.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00000" y="3900000"/>
            <a:ext cx="2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50" b="1">
                <a:solidFill>
                  <a:srgbClr val="3A93CF"/>
                </a:solidFill>
                <a:latin typeface="Satoshi"/>
              </a:rPr>
              <a:t>View detail for all 19 markets  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0000" y="4850000"/>
            <a:ext cx="5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B7B88"/>
                </a:solidFill>
                <a:latin typeface="Satoshi"/>
              </a:rPr>
              <a:t>ESTATE PLANNING GROWTH STRATEGY  ·  CORDELL &amp; CORDELL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00000" y="4850000"/>
            <a:ext cx="1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>
                <a:solidFill>
                  <a:srgbClr val="6B7B88"/>
                </a:solidFill>
                <a:latin typeface="Satosh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" y="200000"/>
            <a:ext cx="8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Roslindale Display Condensed"/>
              </a:rPr>
              <a:t>You rank. But not for the queries that matter.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000" y="530000"/>
            <a:ext cx="8400000" cy="18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FA3BC"/>
                </a:solidFill>
                <a:latin typeface="Satoshi"/>
              </a:rPr>
              <a:t>Three patterns in the EP keyword data — each one points at the same root cause: topical authority gap.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820000"/>
            <a:ext cx="2700000" cy="180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870000"/>
            <a:ext cx="25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C6E005"/>
                </a:solidFill>
                <a:latin typeface="Satoshi"/>
              </a:rPr>
              <a:t>FINDING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" y="100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Roslindale Display Condensed"/>
              </a:rPr>
              <a:t>Page 3+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240000"/>
            <a:ext cx="2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EEDC82"/>
                </a:solidFill>
                <a:latin typeface="Roslindale Display Condensed"/>
              </a:rPr>
              <a:t>Buried on commercial keywords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44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  <a:latin typeface="Satoshi"/>
              </a:rPr>
              <a:t>“lawyers near me for wills”  500/mo  ·  #30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" y="160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  <a:latin typeface="Satoshi"/>
              </a:rPr>
              <a:t>“power of attorney near me”  600/mo  ·  #28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" y="232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8FA3BC"/>
                </a:solidFill>
                <a:latin typeface="Roslindale Display Condensed"/>
              </a:rPr>
              <a:t>1,100 monthly searches. Both commercial intent. Both invisible past page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0000" y="820000"/>
            <a:ext cx="2700000" cy="180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0000" y="870000"/>
            <a:ext cx="25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C6E005"/>
                </a:solidFill>
                <a:latin typeface="Satoshi"/>
              </a:rPr>
              <a:t>FINDING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0000" y="100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Roslindale Display Condensed"/>
              </a:rPr>
              <a:t>4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0000" y="1240000"/>
            <a:ext cx="2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EEDC82"/>
                </a:solidFill>
                <a:latin typeface="Roslindale Display Condensed"/>
              </a:rPr>
              <a:t>Rankings are decaying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0000" y="144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  <a:latin typeface="Satoshi"/>
              </a:rPr>
              <a:t>“death of trust beneficiary”  20/mo  ·  #1 → Lost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50000" y="160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  <a:latin typeface="Satoshi"/>
              </a:rPr>
              <a:t>“trust beneficiary dies before…”  30/mo  ·  #1 →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0000" y="176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  <a:latin typeface="Satoshi"/>
              </a:rPr>
              <a:t>“trust when beneficiary dies”  60/mo  ·  #12 → Lost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0000" y="192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  <a:latin typeface="Satoshi"/>
              </a:rPr>
              <a:t>“beneficiary of a will dies”  30/mo  ·  #1 → Lost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50000" y="232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8FA3BC"/>
                </a:solidFill>
                <a:latin typeface="Roslindale Display Condensed"/>
              </a:rPr>
              <a:t>Thin content can rank briefly. It can't hold.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50000" y="820000"/>
            <a:ext cx="2700000" cy="180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0000" y="870000"/>
            <a:ext cx="25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C6E005"/>
                </a:solidFill>
                <a:latin typeface="Satoshi"/>
              </a:rPr>
              <a:t>FINDING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0000" y="100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Roslindale Display Condensed"/>
              </a:rPr>
              <a:t>Wrong intent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0000" y="1240000"/>
            <a:ext cx="2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EEDC82"/>
                </a:solidFill>
                <a:latin typeface="Roslindale Display Condensed"/>
              </a:rPr>
              <a:t>POA traffic is parental, not estate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0000" y="144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  <a:latin typeface="Satoshi"/>
              </a:rPr>
              <a:t>“power of attorney over a child”  150/mo  ·  #7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0000" y="160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  <a:latin typeface="Satoshi"/>
              </a:rPr>
              <a:t>“temporary POA for child”  80/mo  ·  #11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0000" y="176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FFFFFF"/>
                </a:solidFill>
                <a:latin typeface="Satoshi"/>
              </a:rPr>
              <a:t>“POA for child care”  40/mo  ·  #11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0000" y="232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>
                <a:solidFill>
                  <a:srgbClr val="8FA3BC"/>
                </a:solidFill>
                <a:latin typeface="Roslindale Display Condensed"/>
              </a:rPr>
              <a:t>All current POA visibility = custody POA. Zero estate-planning POA.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50000" y="2800000"/>
            <a:ext cx="845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0000" y="2900000"/>
            <a:ext cx="50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Roslindale Display Condensed"/>
              </a:rPr>
              <a:t>Backlinks growing. Rankings collapsing.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000" y="3200000"/>
            <a:ext cx="84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8FA3BC"/>
                </a:solidFill>
                <a:latin typeface="Satoshi"/>
              </a:rPr>
              <a:t>cordellcordell.com estate planning page — referring domains vs. organic traffic, Aug 2024 – 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000" y="3450000"/>
            <a:ext cx="25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Roslindale Display Condensed"/>
              </a:rPr>
              <a:t>+15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000" y="3750000"/>
            <a:ext cx="2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6E005"/>
                </a:solidFill>
                <a:latin typeface="Satoshi"/>
              </a:rPr>
              <a:t>Referring domains added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0000" y="392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8FA3BC"/>
                </a:solidFill>
                <a:latin typeface="Satoshi"/>
              </a:rPr>
              <a:t>Off-site authority IS growing.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0000" y="3450000"/>
            <a:ext cx="25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Roslindale Display Condensed"/>
              </a:rPr>
              <a:t>Nov '25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0000" y="3750000"/>
            <a:ext cx="2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6E005"/>
                </a:solidFill>
                <a:latin typeface="Satoshi"/>
              </a:rPr>
              <a:t>Brief ranking traction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50000" y="392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8FA3BC"/>
                </a:solidFill>
                <a:latin typeface="Satoshi"/>
              </a:rPr>
              <a:t>1 keyword in top 10 for ~90 days.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0000" y="3450000"/>
            <a:ext cx="25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Roslindale Display Condensed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50000" y="3750000"/>
            <a:ext cx="2500000" cy="1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C6E005"/>
                </a:solidFill>
                <a:latin typeface="Satoshi"/>
              </a:rPr>
              <a:t>Top-10 positions today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0000" y="3920000"/>
            <a:ext cx="25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8FA3BC"/>
                </a:solidFill>
                <a:latin typeface="Satoshi"/>
              </a:rPr>
              <a:t>Rankings collapsed. Zero since Feb '26.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00" y="4050000"/>
            <a:ext cx="84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EDC82"/>
                </a:solidFill>
                <a:latin typeface="Roslindale Display Condensed"/>
              </a:rPr>
              <a:t>Topical authority isn't a nice-to-have. It's the foundation. → Pillar 02.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0000" y="4850000"/>
            <a:ext cx="5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B7B88"/>
                </a:solidFill>
                <a:latin typeface="Satoshi"/>
              </a:rPr>
              <a:t>ESTATE PLANNING GROWTH STRATEGY  ·  CORDELL &amp; CORDELL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00000" y="4850000"/>
            <a:ext cx="1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>
                <a:solidFill>
                  <a:srgbClr val="6B7B88"/>
                </a:solidFill>
                <a:latin typeface="Satosh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" y="200000"/>
            <a:ext cx="8400000" cy="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200" b="1">
                <a:solidFill>
                  <a:srgbClr val="14364D"/>
                </a:solidFill>
                <a:latin typeface="Roslindale Display Condensed"/>
              </a:rPr>
              <a:t>100,000 warm leads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000" y="700000"/>
            <a:ext cx="8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0">
                <a:solidFill>
                  <a:srgbClr val="282828"/>
                </a:solidFill>
                <a:latin typeface="Roslindale Display Condensed"/>
              </a:rPr>
              <a:t>no competitor can reach.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1200000"/>
            <a:ext cx="840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3A93CF"/>
                </a:solidFill>
                <a:latin typeface="Satoshi"/>
              </a:rPr>
              <a:t>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1380000"/>
            <a:ext cx="8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4364D"/>
                </a:solidFill>
                <a:latin typeface="Roslindale Display Condensed"/>
              </a:rPr>
              <a:t>Divorce is the #1 life event that triggers redoing an estate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1700000"/>
            <a:ext cx="84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282828"/>
                </a:solidFill>
                <a:latin typeface="Satoshi"/>
              </a:rPr>
              <a:t>Cordell has 35 years of family-law authority and a client base no estate-planning specialist can replicate.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0000" y="2050000"/>
            <a:ext cx="8450000" cy="0"/>
          </a:xfrm>
          <a:prstGeom prst="line">
            <a:avLst/>
          </a:prstGeom>
          <a:ln w="254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50000" y="2150000"/>
            <a:ext cx="840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3A93CF"/>
                </a:solidFill>
                <a:latin typeface="Satoshi"/>
              </a:rPr>
              <a:t>FOUR PILLARS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2400000"/>
            <a:ext cx="2050000" cy="1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" y="2400000"/>
            <a:ext cx="205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25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A93CF"/>
                </a:solidFill>
                <a:latin typeface="Roslindale Display Condense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780000"/>
            <a:ext cx="180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4364D"/>
                </a:solidFill>
                <a:latin typeface="Roslindale Display Condensed"/>
              </a:rPr>
              <a:t>Local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000" y="305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282828"/>
                </a:solidFill>
                <a:latin typeface="Satoshi"/>
              </a:rPr>
              <a:t>Own every market with city pages, GBP, and reviews.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0000" y="2400000"/>
            <a:ext cx="2050000" cy="1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0000" y="2400000"/>
            <a:ext cx="205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0000" y="25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A93CF"/>
                </a:solidFill>
                <a:latin typeface="Roslindale Display Condense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0000" y="2780000"/>
            <a:ext cx="180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4364D"/>
                </a:solidFill>
                <a:latin typeface="Roslindale Display Condensed"/>
              </a:rPr>
              <a:t>Topical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0000" y="305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282828"/>
                </a:solidFill>
                <a:latin typeface="Satoshi"/>
              </a:rPr>
              <a:t>Rank for wills, trusts, POA, and probate.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0000" y="2400000"/>
            <a:ext cx="2050000" cy="1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0000" y="2400000"/>
            <a:ext cx="205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0000" y="25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A93CF"/>
                </a:solidFill>
                <a:latin typeface="Roslindale Display Condense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0000" y="2780000"/>
            <a:ext cx="180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4364D"/>
                </a:solidFill>
                <a:latin typeface="Roslindale Display Condensed"/>
              </a:rPr>
              <a:t>Off-Site Authority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0000" y="305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282828"/>
                </a:solidFill>
                <a:latin typeface="Satoshi"/>
              </a:rPr>
              <a:t>Earn links worthy of the national brand.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0000" y="2400000"/>
            <a:ext cx="2050000" cy="12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40000" y="2400000"/>
            <a:ext cx="205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0000" y="25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>
                <a:solidFill>
                  <a:srgbClr val="3A93CF"/>
                </a:solidFill>
                <a:latin typeface="Roslindale Display Condense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0000" y="2780000"/>
            <a:ext cx="180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4364D"/>
                </a:solidFill>
                <a:latin typeface="Roslindale Display Condensed"/>
              </a:rPr>
              <a:t>Pipeline Activation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0000" y="3050000"/>
            <a:ext cx="1800000" cy="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282828"/>
                </a:solidFill>
                <a:latin typeface="Satoshi"/>
              </a:rPr>
              <a:t>Turn 100K warm leads into EP cases.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000" y="3800000"/>
            <a:ext cx="84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6B7B88"/>
                </a:solidFill>
                <a:latin typeface="Roslindale Display Condensed"/>
              </a:rPr>
              <a:t>Four pillars built around the one advantage no competitor can match.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000" y="4850000"/>
            <a:ext cx="5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B7B88"/>
                </a:solidFill>
                <a:latin typeface="Satoshi"/>
              </a:rPr>
              <a:t>ESTATE PLANNING GROWTH STRATEGY  ·  CORDELL &amp; CORDELL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0000" y="4850000"/>
            <a:ext cx="1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>
                <a:solidFill>
                  <a:srgbClr val="6B7B88"/>
                </a:solidFill>
                <a:latin typeface="Satosh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" y="200000"/>
            <a:ext cx="8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>
                <a:solidFill>
                  <a:srgbClr val="FFFFFF"/>
                </a:solidFill>
                <a:latin typeface="Roslindale Display Condensed"/>
              </a:rPr>
              <a:t>Four pillars. One outcome: 10x cases.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000" y="600000"/>
            <a:ext cx="84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8FA3BC"/>
                </a:solidFill>
                <a:latin typeface="Satoshi"/>
              </a:rPr>
              <a:t>Designed to capture active planners, delayed planners, and unaware households.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950000"/>
            <a:ext cx="2050000" cy="290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950000"/>
            <a:ext cx="205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10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Roslindale Display Condense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370000"/>
            <a:ext cx="1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Roslindale Display Condensed"/>
              </a:rPr>
              <a:t>Local Authority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0000" y="1600000"/>
            <a:ext cx="180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0000" y="1670000"/>
            <a:ext cx="1800000" cy="2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19 city landing pages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GBP cleanup + naming convention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Localized attorney bios + reviews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12 state law content hubs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0000" y="950000"/>
            <a:ext cx="2050000" cy="290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0000" y="950000"/>
            <a:ext cx="205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0000" y="10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Roslindale Display Condense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0000" y="1370000"/>
            <a:ext cx="1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Roslindale Display Condensed"/>
              </a:rPr>
              <a:t>Topical Authority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80000" y="1600000"/>
            <a:ext cx="180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80000" y="1670000"/>
            <a:ext cx="1800000" cy="2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Pillar pages: Wills, Trusts, POA, Probate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Cost transparency content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Process &amp; timeline content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FAQ schema across the footprint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0000" y="950000"/>
            <a:ext cx="2050000" cy="290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0000" y="950000"/>
            <a:ext cx="205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0000" y="10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Roslindale Display Condense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0000" y="1370000"/>
            <a:ext cx="1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Roslindale Display Condensed"/>
              </a:rPr>
              <a:t>Off-Site Authority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10000" y="1600000"/>
            <a:ext cx="180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10000" y="1670000"/>
            <a:ext cx="1800000" cy="2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Original data study (annual report)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HARO + expert positioning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Local link building per 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0000" y="950000"/>
            <a:ext cx="2050000" cy="2900000"/>
          </a:xfrm>
          <a:prstGeom prst="rect">
            <a:avLst/>
          </a:prstGeom>
          <a:solidFill>
            <a:srgbClr val="1A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40000" y="950000"/>
            <a:ext cx="2050000" cy="45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0000" y="1050000"/>
            <a:ext cx="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Roslindale Display Condense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0000" y="1370000"/>
            <a:ext cx="18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Roslindale Display Condensed"/>
              </a:rPr>
              <a:t>Pipeline Activation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40000" y="1600000"/>
            <a:ext cx="180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40000" y="1670000"/>
            <a:ext cx="1800000" cy="20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Divorce → EP internal linking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Past-client email sequences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Retargeting former divorce traffic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8FA3BC"/>
                </a:solidFill>
                <a:latin typeface="Satoshi"/>
              </a:rPr>
              <a:t>  Podcast pivot: 250+ episodes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000" y="4850000"/>
            <a:ext cx="5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B7B88"/>
                </a:solidFill>
                <a:latin typeface="Satoshi"/>
              </a:rPr>
              <a:t>ESTATE PLANNING GROWTH STRATEGY  ·  CORDELL &amp; CORDELL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0000" y="4850000"/>
            <a:ext cx="1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>
                <a:solidFill>
                  <a:srgbClr val="6B7B88"/>
                </a:solidFill>
                <a:latin typeface="Satosh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" y="200000"/>
            <a:ext cx="84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4364D"/>
                </a:solidFill>
                <a:latin typeface="Roslindale Display Condensed"/>
              </a:rPr>
              <a:t>Phased rollout. Measured at every step.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000" y="650000"/>
            <a:ext cx="840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3A93CF"/>
                </a:solidFill>
                <a:latin typeface="Satoshi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" y="900000"/>
            <a:ext cx="27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0000" y="900000"/>
            <a:ext cx="2700000" cy="40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970000"/>
            <a:ext cx="25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3A93CF"/>
                </a:solidFill>
                <a:latin typeface="Satoshi"/>
              </a:rPr>
              <a:t>DAYS 1–90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110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364D"/>
                </a:solidFill>
                <a:latin typeface="Roslindale Display Condensed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1360000"/>
            <a:ext cx="2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B88"/>
                </a:solidFill>
                <a:latin typeface="Satoshi"/>
              </a:rPr>
              <a:t>GBP cleanup  ·  19 city pages  ·  Schema  ·  Divorce→EP linking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0000" y="900000"/>
            <a:ext cx="27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0000" y="900000"/>
            <a:ext cx="2700000" cy="40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50000" y="970000"/>
            <a:ext cx="25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3A93CF"/>
                </a:solidFill>
                <a:latin typeface="Satoshi"/>
              </a:rPr>
              <a:t>MONTHS 4–6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0000" y="110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364D"/>
                </a:solidFill>
                <a:latin typeface="Roslindale Display Condensed"/>
              </a:rP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0000" y="1360000"/>
            <a:ext cx="2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B88"/>
                </a:solidFill>
                <a:latin typeface="Satoshi"/>
              </a:rPr>
              <a:t>4 pillar pages  ·  12 state hubs  ·  Review program  ·  FAQ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50000" y="900000"/>
            <a:ext cx="270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50000" y="900000"/>
            <a:ext cx="2700000" cy="40000"/>
          </a:xfrm>
          <a:prstGeom prst="rect">
            <a:avLst/>
          </a:prstGeom>
          <a:solidFill>
            <a:srgbClr val="C6E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0000" y="970000"/>
            <a:ext cx="25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3A93CF"/>
                </a:solidFill>
                <a:latin typeface="Satoshi"/>
              </a:rPr>
              <a:t>MONTHS 7–12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0000" y="1100000"/>
            <a:ext cx="2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4364D"/>
                </a:solidFill>
                <a:latin typeface="Roslindale Display Condensed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0000" y="1360000"/>
            <a:ext cx="2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B7B88"/>
                </a:solidFill>
                <a:latin typeface="Satoshi"/>
              </a:rPr>
              <a:t>50+ cluster posts  ·  Email &amp; retargeting live  ·  Podcast EP series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000" y="1800000"/>
            <a:ext cx="400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3A93CF"/>
                </a:solidFill>
                <a:latin typeface="Satoshi"/>
              </a:rPr>
              <a:t>WHAT WE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" y="1980000"/>
            <a:ext cx="4500000" cy="15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282828"/>
                </a:solidFill>
                <a:latin typeface="Satoshi"/>
              </a:rPr>
              <a:t>  Organic EP traffic (by city + state)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82828"/>
                </a:solidFill>
                <a:latin typeface="Satoshi"/>
              </a:rPr>
              <a:t>  Local pack appearances per office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82828"/>
                </a:solidFill>
                <a:latin typeface="Satoshi"/>
              </a:rPr>
              <a:t>  Scheduler clicks &amp; EP form fills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82828"/>
                </a:solidFill>
                <a:latin typeface="Satoshi"/>
              </a:rPr>
              <a:t>  GBP calls &amp; direction requests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82828"/>
                </a:solidFill>
                <a:latin typeface="Satoshi"/>
              </a:rPr>
              <a:t>  EP keyword rankings (pillar + state + 'near me')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282828"/>
                </a:solidFill>
                <a:latin typeface="Satoshi"/>
              </a:rPr>
              <a:t>  EP-specific review acquisition velocity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00000" y="1800000"/>
            <a:ext cx="3500000" cy="2100000"/>
          </a:xfrm>
          <a:prstGeom prst="rect">
            <a:avLst/>
          </a:prstGeom>
          <a:solidFill>
            <a:srgbClr val="14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0000" y="1900000"/>
            <a:ext cx="32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C6E005"/>
                </a:solidFill>
                <a:latin typeface="Satoshi"/>
              </a:rPr>
              <a:t>THE 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0000" y="2100000"/>
            <a:ext cx="32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Roslindale Display Condensed"/>
              </a:rPr>
              <a:t>10x cases in 12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0000" y="2500000"/>
            <a:ext cx="32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8FA3BC"/>
                </a:solidFill>
                <a:latin typeface="Roslindale Display Condensed"/>
              </a:rPr>
              <a:t>Tracked at firm, state, and office level.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50000" y="2750000"/>
            <a:ext cx="3050000" cy="0"/>
          </a:xfrm>
          <a:prstGeom prst="line">
            <a:avLst/>
          </a:prstGeom>
          <a:ln w="12700">
            <a:solidFill>
              <a:srgbClr val="C6E0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50000" y="2850000"/>
            <a:ext cx="32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8FA3BC"/>
                </a:solidFill>
                <a:latin typeface="Satoshi"/>
              </a:rPr>
              <a:t>Hit Pillar 1 by Q2 and activate the divorce-to-EP pipeline by Q3 — and 10x becomes a base case, not a stretch.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000" y="4850000"/>
            <a:ext cx="5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B7B88"/>
                </a:solidFill>
                <a:latin typeface="Satoshi"/>
              </a:rPr>
              <a:t>ESTATE PLANNING GROWTH STRATEGY  ·  CORDELL &amp; CORDELL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0000" y="4850000"/>
            <a:ext cx="1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>
                <a:solidFill>
                  <a:srgbClr val="6B7B88"/>
                </a:solidFill>
                <a:latin typeface="Satosh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6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0000" y="150000"/>
            <a:ext cx="5500000" cy="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C6E005"/>
                </a:solidFill>
                <a:latin typeface="Satoshi"/>
              </a:rPr>
              <a:t>APPENDIX  ·  PER-MARKET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000" y="330000"/>
            <a:ext cx="84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Roslindale Display Condensed"/>
              </a:rPr>
              <a:t>All 19 markets. Star ratings and review share.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" y="620000"/>
            <a:ext cx="8400000" cy="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>
                <a:solidFill>
                  <a:srgbClr val="8FA3BC"/>
                </a:solidFill>
                <a:latin typeface="Satoshi"/>
              </a:rPr>
              <a:t>Reference data behind the competitive picture on slide 03.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" y="830000"/>
            <a:ext cx="20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C6E005"/>
                </a:solidFill>
                <a:latin typeface="Satoshi"/>
              </a:rPr>
              <a:t>Wave 1 — Beachhead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" y="1300000"/>
            <a:ext cx="20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C6E005"/>
                </a:solidFill>
                <a:latin typeface="Satoshi"/>
              </a:rPr>
              <a:t>Wave 2 —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0000" y="2350000"/>
            <a:ext cx="20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C6E005"/>
                </a:solidFill>
                <a:latin typeface="Satoshi"/>
              </a:rPr>
              <a:t>Wave 3 — Grow &amp;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" y="3200000"/>
            <a:ext cx="20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>
                <a:solidFill>
                  <a:srgbClr val="C6E005"/>
                </a:solidFill>
                <a:latin typeface="Satoshi"/>
              </a:rPr>
              <a:t>Wave 4 — Strategic Pause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000" y="830000"/>
            <a:ext cx="44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8FA3BC"/>
                </a:solidFill>
                <a:latin typeface="Satoshi"/>
              </a:rPr>
              <a:t>RATING GAP — CORDELL vs. TOP EP COMPETITOR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95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8FA3BC"/>
                </a:solidFill>
                <a:latin typeface="Satosh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50000" y="95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8FA3BC"/>
                </a:solidFill>
                <a:latin typeface="Satoshi"/>
              </a:rPr>
              <a:t>CORDELL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0000" y="95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8FA3BC"/>
                </a:solidFill>
                <a:latin typeface="Satoshi"/>
              </a:rPr>
              <a:t>COMP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000" y="95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8FA3BC"/>
                </a:solidFill>
                <a:latin typeface="Satoshi"/>
              </a:rPr>
              <a:t>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" y="107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Alpharetta GA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0000" y="10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(29)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0000" y="10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(161)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000" y="107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C6E005"/>
                </a:solidFill>
                <a:latin typeface="Satoshi"/>
              </a:rPr>
              <a:t>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" y="117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Cranberry Twp 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0000" y="11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(18)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0000" y="11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(152)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000" y="117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C6E005"/>
                </a:solidFill>
                <a:latin typeface="Satoshi"/>
              </a:rPr>
              <a:t>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00" y="13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Peoria 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0000" y="13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4.4 (30)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0000" y="13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(34)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50000" y="13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-0.6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000" y="14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Town &amp; Country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0000" y="14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4.2 (83)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0000" y="14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(70)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50000" y="14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-0.8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000" y="15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Independence OH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50000" y="15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4.2 (76)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0000" y="15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4.9 (122)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000" y="15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-0.7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000" y="16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Jacksonville FL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50000" y="16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4.2 (65)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50000" y="16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4.9 (255)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50000" y="16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-0.7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000" y="17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Virginia Beach 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50000" y="17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4.0 (56)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50000" y="17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(217)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0000" y="17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-1.0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000" y="18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Dallas TX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50000" y="18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4.0 (76)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50000" y="18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4.9 (244)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50000" y="18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-0.9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0000" y="19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Richmond 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50000" y="19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3.9 (51)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0000" y="19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(165)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50000" y="19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0000" y="20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Cincinnati OH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50000" y="20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3.8 (58)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50000" y="20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4.9 (68)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50000" y="20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000" y="217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Indianapolis 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50000" y="21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3.6 (57)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50000" y="21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4.9 (195)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50000" y="217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000" y="227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Saint Charles MO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50000" y="22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3.5 (22)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50000" y="22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4.9 (191)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50000" y="227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000" y="237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Edwardsville 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50000" y="23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3.4 (13)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50000" y="23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(54)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50000" y="237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0000" y="247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Houston TX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50000" y="24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3.4 (63)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50000" y="24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(103)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50000" y="247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0000" y="257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Wilmington NC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50000" y="25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3.4 (36)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50000" y="25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(637)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50000" y="257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0000" y="267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Pittsburgh PA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50000" y="26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3.3 (55)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50000" y="267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4.9 (423)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50000" y="267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0000" y="28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Orlando FL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50000" y="28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3.1 (22)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50000" y="28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4.9 (495)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50000" y="28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0000" y="29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Wichita KS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50000" y="29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3.1 (39)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50000" y="29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5.0 (228)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50000" y="29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0000" y="3020000"/>
            <a:ext cx="15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1">
                <a:solidFill>
                  <a:srgbClr val="FFFFFF"/>
                </a:solidFill>
                <a:latin typeface="Satoshi"/>
              </a:rPr>
              <a:t>Falls Church VA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50000" y="30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2.7 (46)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50000" y="3020000"/>
            <a:ext cx="11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★ 4.5 (49)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50000" y="3020000"/>
            <a:ext cx="6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-1.8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00000" y="830000"/>
            <a:ext cx="3500000" cy="12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8FA3BC"/>
                </a:solidFill>
                <a:latin typeface="Satoshi"/>
              </a:rPr>
              <a:t>REVIEW SHARE — CORDELL % OF TOTAL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00000" y="95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8FA3BC"/>
                </a:solidFill>
                <a:latin typeface="Satoshi"/>
              </a:rPr>
              <a:t>MARKET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00000" y="95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8FA3BC"/>
                </a:solidFill>
                <a:latin typeface="Satoshi"/>
              </a:rPr>
              <a:t>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00000" y="10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Town &amp; Country MO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00000" y="10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C6E005"/>
                </a:solidFill>
                <a:latin typeface="Satoshi"/>
              </a:rPr>
              <a:t>54%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00000" y="11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Falls Church VA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00000" y="11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C6E005"/>
                </a:solidFill>
                <a:latin typeface="Satoshi"/>
              </a:rPr>
              <a:t>48%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00000" y="12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Independence OH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00000" y="12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C6E005"/>
                </a:solidFill>
                <a:latin typeface="Satoshi"/>
              </a:rPr>
              <a:t>38%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00000" y="13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Houston TX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400000" y="13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C6E005"/>
                </a:solidFill>
                <a:latin typeface="Satoshi"/>
              </a:rPr>
              <a:t>38%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00000" y="14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Cincinnati OH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00000" y="14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C6E005"/>
                </a:solidFill>
                <a:latin typeface="Satoshi"/>
              </a:rPr>
              <a:t>37%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200000" y="15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Richmond VA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00000" y="15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24%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00000" y="16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Dallas TX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00000" y="16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24%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200000" y="17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Indianapolis IN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00000" y="17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23%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00000" y="18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Peoria AZ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00000" y="18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23%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00000" y="19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Virginia Beach VA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400000" y="19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21%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200000" y="20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Jacksonville FL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00000" y="20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20%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00000" y="21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Alpharetta GA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00000" y="21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15%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00000" y="22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Wichita KS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400000" y="22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EDC82"/>
                </a:solidFill>
                <a:latin typeface="Satoshi"/>
              </a:rPr>
              <a:t>15%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00000" y="23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Edwardsville IL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00000" y="23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14%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00000" y="24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Pittsburgh PA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00000" y="24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12%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200000" y="25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Cranberry Twp PA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00000" y="25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11%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200000" y="26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Saint Charles MO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400000" y="26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10%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200000" y="27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Wilmington NC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00000" y="27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5%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200000" y="2870000"/>
            <a:ext cx="22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50" b="0">
                <a:solidFill>
                  <a:srgbClr val="8FA3BC"/>
                </a:solidFill>
                <a:latin typeface="Satoshi"/>
              </a:rPr>
              <a:t>Orlando FL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400000" y="2870000"/>
            <a:ext cx="800000" cy="1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1">
                <a:solidFill>
                  <a:srgbClr val="E04A4A"/>
                </a:solidFill>
                <a:latin typeface="Satoshi"/>
              </a:rPr>
              <a:t>4%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0000" y="4850000"/>
            <a:ext cx="5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6B7B88"/>
                </a:solidFill>
                <a:latin typeface="Satoshi"/>
              </a:rPr>
              <a:t>ESTATE PLANNING GROWTH STRATEGY  ·  CORDELL &amp; CORDELL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500000" y="4850000"/>
            <a:ext cx="1500000" cy="2000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1">
                <a:solidFill>
                  <a:srgbClr val="6B7B88"/>
                </a:solidFill>
                <a:latin typeface="Satosh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