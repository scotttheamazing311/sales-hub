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00000"/>
            <a:ext cx="12192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320"/>
              </a:lnSpc>
              <a:defRPr sz="1100" b="1">
                <a:solidFill>
                  <a:srgbClr val="EAFF6A"/>
                </a:solidFill>
                <a:latin typeface="Calibri"/>
              </a:defRPr>
            </a:pPr>
            <a:r>
              <a:t>BDR  →  LFG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0000" y="2200000"/>
            <a:ext cx="9200000" cy="2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5059"/>
              </a:lnSpc>
              <a:defRPr sz="4400" b="1">
                <a:solidFill>
                  <a:srgbClr val="FFFFFF"/>
                </a:solidFill>
                <a:latin typeface="Calibri"/>
              </a:defRPr>
            </a:pPr>
          </a:p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A New Revenue
</a:t>
            </a:r>
            <a:r>
              <a:rPr sz="4400" b="1">
                <a:solidFill>
                  <a:srgbClr val="EAFF6A"/>
                </a:solidFill>
                <a:latin typeface="Calibri"/>
              </a:rPr>
              <a:t>Culture.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0" y="4200000"/>
            <a:ext cx="82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950"/>
              </a:lnSpc>
              <a:defRPr sz="1300" b="0">
                <a:solidFill>
                  <a:srgbClr val="889DA8"/>
                </a:solidFill>
                <a:latin typeface="Calibri"/>
              </a:defRPr>
            </a:pPr>
            <a:r>
              <a:t>Law Firm Growth Specialist — Not appointment setters. Not script readers.</a:t>
            </a:r>
            <a:br/>
            <a:r>
              <a:t>Not traditional BDRs. A new standard for how we grow.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00000"/>
            <a:ext cx="12192000" cy="3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WHAT'S HAPPENING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0000" y="1200000"/>
            <a:ext cx="98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This isn't a rename.
It's a </a:t>
            </a:r>
            <a:r>
              <a:rPr sz="3600" b="1">
                <a:solidFill>
                  <a:srgbClr val="EAFF6A"/>
                </a:solidFill>
                <a:latin typeface="Calibri"/>
              </a:rPr>
              <a:t>reinvention.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0" y="2900000"/>
            <a:ext cx="72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889DA8"/>
                </a:solidFill>
                <a:latin typeface="Calibri"/>
              </a:rPr>
              <a:t>The BDR role is gone. In its place: the </a:t>
            </a:r>
            <a:r>
              <a:rPr sz="1300" b="1">
                <a:solidFill>
                  <a:srgbClr val="FFFFFF"/>
                </a:solidFill>
                <a:latin typeface="Calibri"/>
              </a:rPr>
              <a:t>Law Firm Growth Specialist</a:t>
            </a:r>
            <a:r>
              <a:rPr sz="1300">
                <a:solidFill>
                  <a:srgbClr val="889DA8"/>
                </a:solidFill>
                <a:latin typeface="Calibri"/>
              </a:rPr>
              <a:t> — built around three core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6000" y="4000000"/>
            <a:ext cx="3400000" cy="20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6000" y="4000000"/>
            <a:ext cx="3400000" cy="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6000" y="42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60"/>
              </a:lnSpc>
              <a:defRPr sz="2800" b="1">
                <a:solidFill>
                  <a:srgbClr val="EAFF6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000" y="4750000"/>
            <a:ext cx="31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2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Identify gaps in</a:t>
            </a:r>
            <a:br/>
            <a:r>
              <a:t>performance marketing</a:t>
            </a:r>
            <a:br/>
            <a:r>
              <a:t>for law firms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6000" y="4000000"/>
            <a:ext cx="3400000" cy="20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6000" y="4000000"/>
            <a:ext cx="3400000" cy="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6000" y="42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60"/>
              </a:lnSpc>
              <a:defRPr sz="2800" b="1">
                <a:solidFill>
                  <a:srgbClr val="EAFF6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6000" y="4750000"/>
            <a:ext cx="31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2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Manage the</a:t>
            </a:r>
            <a:br/>
            <a:r>
              <a:t>prospect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000" y="4000000"/>
            <a:ext cx="3400000" cy="20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000" y="4000000"/>
            <a:ext cx="3400000" cy="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000" y="4200000"/>
            <a:ext cx="34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3360"/>
              </a:lnSpc>
              <a:defRPr sz="2800" b="1">
                <a:solidFill>
                  <a:srgbClr val="EAFF6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6000" y="4750000"/>
            <a:ext cx="31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820"/>
              </a:lnSpc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Deliver targeted</a:t>
            </a:r>
            <a:br/>
            <a:r>
              <a:t>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0000"/>
            <a:ext cx="7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8000"/>
            <a:ext cx="7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400" y="610000"/>
            <a:ext cx="6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Why We're Making This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00000"/>
            <a:ext cx="10363200" cy="55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64400" y="1420000"/>
            <a:ext cx="100000" cy="1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4400" y="1330000"/>
            <a:ext cx="96632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Talent in chair in relation to the title</a:t>
            </a:r>
            <a:r>
              <a:rPr sz="1400">
                <a:solidFill>
                  <a:srgbClr val="889DA8"/>
                </a:solidFill>
                <a:latin typeface="Calibri"/>
              </a:rPr>
              <a:t> — the role has outgrown the old name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50000"/>
            <a:ext cx="10363200" cy="55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64400" y="2070000"/>
            <a:ext cx="100000" cy="1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4400" y="1980000"/>
            <a:ext cx="96632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Title Impact</a:t>
            </a:r>
            <a:r>
              <a:rPr sz="1400">
                <a:solidFill>
                  <a:srgbClr val="889DA8"/>
                </a:solidFill>
                <a:latin typeface="Calibri"/>
              </a:rPr>
              <a:t> — how we name ourselves shapes how we show 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500000"/>
            <a:ext cx="10363200" cy="55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4400" y="2720000"/>
            <a:ext cx="100000" cy="1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4400" y="2630000"/>
            <a:ext cx="96632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Market around us</a:t>
            </a:r>
            <a:r>
              <a:rPr sz="1400">
                <a:solidFill>
                  <a:srgbClr val="889DA8"/>
                </a:solidFill>
                <a:latin typeface="Calibri"/>
              </a:rPr>
              <a:t> — Hennessey "publicly" entering outbound. We stay ahead.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50000"/>
            <a:ext cx="10363200" cy="55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400" y="3370000"/>
            <a:ext cx="100000" cy="1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4400" y="3280000"/>
            <a:ext cx="96632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Best equipped to grow in chair</a:t>
            </a:r>
            <a:r>
              <a:rPr sz="1400">
                <a:solidFill>
                  <a:srgbClr val="889DA8"/>
                </a:solidFill>
                <a:latin typeface="Calibri"/>
              </a:rPr>
              <a:t> — this role is a launchpad, not a ceiling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800000"/>
            <a:ext cx="10363200" cy="55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4400" y="4020000"/>
            <a:ext cx="100000" cy="1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14400" y="3930000"/>
            <a:ext cx="96632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You deserve your own brand</a:t>
            </a:r>
            <a:r>
              <a:rPr sz="1400">
                <a:solidFill>
                  <a:srgbClr val="889DA8"/>
                </a:solidFill>
                <a:latin typeface="Calibri"/>
              </a:rPr>
              <a:t> — here and beyond Rankings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00000"/>
            <a:ext cx="7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8000"/>
            <a:ext cx="7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4400" y="610000"/>
            <a:ext cx="6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How We Plan to Enable This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00000"/>
            <a:ext cx="5081600" cy="22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400" y="1350000"/>
            <a:ext cx="468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EAFF6A"/>
                </a:solidFill>
                <a:latin typeface="Calibri"/>
              </a:defRPr>
            </a:pPr>
            <a:r>
              <a:t>BETTER INCENTIVES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64400" y="178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4400" y="170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Standing spiffs: Quota by 15th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4400" y="211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4400" y="203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15 holds / 12 holds bonus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4400" y="244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4400" y="236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Revenue contribution scale (quarterly)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4400" y="277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4400" y="269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Whale incentives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000" y="1200000"/>
            <a:ext cx="5081600" cy="22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6000" y="1350000"/>
            <a:ext cx="468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EAFF6A"/>
                </a:solidFill>
                <a:latin typeface="Calibri"/>
              </a:defRPr>
            </a:pPr>
            <a:r>
              <a:t>NEW COMPENSATION CHANNEL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000" y="178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6000" y="170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LinkedIn as a revenue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000" y="211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6000" y="203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New comp structure around social selling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600000"/>
            <a:ext cx="5081600" cy="22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4400" y="3750000"/>
            <a:ext cx="468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EAFF6A"/>
                </a:solidFill>
                <a:latin typeface="Calibri"/>
              </a:defRPr>
            </a:pPr>
            <a:r>
              <a:t>TRAINING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4400" y="418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4400" y="410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Gap training program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64400" y="451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4400" y="443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5-phase rollout (July – October)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6000" y="3600000"/>
            <a:ext cx="5081600" cy="2200000"/>
          </a:xfrm>
          <a:prstGeom prst="rect">
            <a:avLst/>
          </a:prstGeom>
          <a:solidFill>
            <a:srgbClr val="0B4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6000" y="3750000"/>
            <a:ext cx="468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EAFF6A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000" y="418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6000" y="410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LinkedIn Premium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000" y="451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6000" y="443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RevKitchen tools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000" y="4840000"/>
            <a:ext cx="70000" cy="70000"/>
          </a:xfrm>
          <a:prstGeom prst="rect">
            <a:avLst/>
          </a:prstGeom>
          <a:solidFill>
            <a:srgbClr val="3C9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16000" y="4760000"/>
            <a:ext cx="44616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39"/>
              </a:lnSpc>
              <a:defRPr sz="1200" b="0">
                <a:solidFill>
                  <a:srgbClr val="889DA8"/>
                </a:solidFill>
                <a:latin typeface="Calibri"/>
              </a:defRPr>
            </a:pPr>
            <a:r>
              <a:t>Premium swag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1000000"/>
            <a:ext cx="4000000" cy="4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400"/>
              </a:lnSpc>
              <a:defRPr sz="12000" b="1">
                <a:solidFill>
                  <a:srgbClr val="0D4A6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0000" y="2000000"/>
            <a:ext cx="65000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PHASE 1: IDENTIFY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00000" y="2500000"/>
            <a:ext cx="6500000" cy="12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140"/>
              </a:lnSpc>
              <a:defRPr sz="3600" b="1">
                <a:solidFill>
                  <a:srgbClr val="FFFFFF"/>
                </a:solidFill>
                <a:latin typeface="Calibri"/>
              </a:defRPr>
            </a:pPr>
            <a:r>
              <a:t>How We Define</a:t>
            </a:r>
            <a:br/>
            <a:r>
              <a:t>Ourselves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00000" y="4000000"/>
            <a:ext cx="6000000" cy="10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080"/>
              </a:lnSpc>
              <a:defRPr sz="1300" b="0">
                <a:solidFill>
                  <a:srgbClr val="889DA8"/>
                </a:solidFill>
                <a:latin typeface="Calibri"/>
              </a:defRPr>
            </a:pPr>
            <a:r>
              <a:t>The role exists to elevate the prospect experience and position Rankings as the highest-level growth partner in the legal industry.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8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8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4400" y="510000"/>
            <a:ext cx="8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07374F"/>
                </a:solidFill>
                <a:latin typeface="Calibri"/>
              </a:defRPr>
            </a:pPr>
            <a:r>
              <a:t>What We Are Trying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00000"/>
            <a:ext cx="50816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400" y="1220000"/>
            <a:ext cx="46816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GOAL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00" y="1480000"/>
            <a:ext cx="46816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defRPr sz="1300" b="1">
                <a:solidFill>
                  <a:srgbClr val="07374F"/>
                </a:solidFill>
                <a:latin typeface="Calibri"/>
              </a:defRPr>
            </a:pPr>
            <a:r>
              <a:t>Create a Differentiated Outbound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00" y="1850000"/>
            <a:ext cx="46816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Move away from generic legal marketing outreach and create interactions that feel informed, strategic, and valuable from the first touch.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6000" y="1100000"/>
            <a:ext cx="50816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000" y="1220000"/>
            <a:ext cx="46816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GOAL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6000" y="1480000"/>
            <a:ext cx="46816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defRPr sz="1300" b="1">
                <a:solidFill>
                  <a:srgbClr val="07374F"/>
                </a:solidFill>
                <a:latin typeface="Calibri"/>
              </a:defRPr>
            </a:pPr>
            <a:r>
              <a:t>Improve Pipeline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6000" y="1850000"/>
            <a:ext cx="46816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Focus on qualified opportunities, stronger show rates, better handoffs, and higher-converting conversations instead of pure activity volume.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750000"/>
            <a:ext cx="50816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4400" y="2870000"/>
            <a:ext cx="46816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GOAL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4400" y="3130000"/>
            <a:ext cx="46816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defRPr sz="1300" b="1">
                <a:solidFill>
                  <a:srgbClr val="07374F"/>
                </a:solidFill>
                <a:latin typeface="Calibri"/>
              </a:defRPr>
            </a:pPr>
            <a:r>
              <a:t>Build Trust Through 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4400" y="3500000"/>
            <a:ext cx="46816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Lead with diagnosis, observations, competitive intelligence, and tailored value instead of scripts and templates.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6000" y="2750000"/>
            <a:ext cx="50816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6000" y="2870000"/>
            <a:ext cx="46816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GOAL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6000" y="3130000"/>
            <a:ext cx="46816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defRPr sz="1300" b="1">
                <a:solidFill>
                  <a:srgbClr val="07374F"/>
                </a:solidFill>
                <a:latin typeface="Calibri"/>
              </a:defRPr>
            </a:pPr>
            <a:r>
              <a:t>Develop High-Level Talent Internally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6000" y="3500000"/>
            <a:ext cx="46816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Build future AEs, strategists, enablement leaders, and operators through skill development and industry expertise.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4400000"/>
            <a:ext cx="10363200" cy="15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4400" y="4520000"/>
            <a:ext cx="9963200" cy="25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GOAL 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400" y="4780000"/>
            <a:ext cx="996320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60"/>
              </a:lnSpc>
              <a:defRPr sz="1300" b="1">
                <a:solidFill>
                  <a:srgbClr val="07374F"/>
                </a:solidFill>
                <a:latin typeface="Calibri"/>
              </a:defRPr>
            </a:pPr>
            <a:r>
              <a:t>Strengthen the Rankings Brand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400" y="5150000"/>
            <a:ext cx="99632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5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Ensure every touchpoint reflects the standard, professionalism, and authority Rankings wants associated with its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9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9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4400" y="510000"/>
            <a:ext cx="8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07374F"/>
                </a:solidFill>
                <a:latin typeface="Calibri"/>
              </a:defRPr>
            </a:pPr>
            <a:r>
              <a:t>Reframe Our Words and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50000"/>
            <a:ext cx="10363200" cy="33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400" y="110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07374F"/>
                </a:solidFill>
                <a:latin typeface="Calibri"/>
              </a:defRPr>
            </a:pPr>
            <a:r>
              <a:t>OLD BDR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4400" y="1100000"/>
            <a:ext cx="4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07374F"/>
                </a:solidFill>
                <a:latin typeface="Calibri"/>
              </a:defRPr>
            </a:pPr>
            <a:r>
              <a:t>NEW LFG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00" y="143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Prospecting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4400" y="143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4400" y="143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Diagnosing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4400" y="170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4400" y="176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Leads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14400" y="176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400" y="176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Firms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400" y="203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4400" y="209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Booking meetings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4400" y="209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400" y="209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Creating opportunities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400" y="236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4400" y="242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4400" y="242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400" y="242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400" y="269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4400" y="275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4400" y="275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4400" y="275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Engagement strategy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400" y="302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4400" y="308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Pitching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4400" y="308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400" y="308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Delivering insight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400" y="335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4400" y="341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Follow-up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4400" y="341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4400" y="341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Pipeline management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14400" y="368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4400" y="374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SDR / BDR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14400" y="374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4400" y="374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Law Firm Growth Specialist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400" y="401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14400" y="407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Templates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14400" y="407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4400" y="407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Tailored assets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4400" y="434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4400" y="440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Cold outreach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4400" y="440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4400" y="440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Strategic outreach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4400" y="467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14400" y="473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Handoff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4400" y="473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4400" y="473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Transition with context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400" y="500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4400" y="506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Dials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14400" y="506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4400" y="506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Conversations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4400" y="533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4400" y="539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14400" y="539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4400" y="539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Precision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14400" y="566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14400" y="5720000"/>
            <a:ext cx="3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6B6B6B"/>
                </a:solidFill>
                <a:latin typeface="Calibri"/>
              </a:defRPr>
            </a:pPr>
            <a:r>
              <a:t>Appointment setter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14400" y="5720000"/>
            <a:ext cx="8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300" b="0">
                <a:solidFill>
                  <a:srgbClr val="3C94D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4400" y="5720000"/>
            <a:ext cx="5000000" cy="33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1">
                <a:solidFill>
                  <a:srgbClr val="07374F"/>
                </a:solidFill>
                <a:latin typeface="Calibri"/>
              </a:defRPr>
            </a:pPr>
            <a:r>
              <a:t>Growth partner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400" y="5990000"/>
            <a:ext cx="10163200" cy="10000"/>
          </a:xfrm>
          <a:prstGeom prst="rect">
            <a:avLst/>
          </a:prstGeom>
          <a:solidFill>
            <a:srgbClr val="F0E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11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11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4400" y="510000"/>
            <a:ext cx="8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07374F"/>
                </a:solidFill>
                <a:latin typeface="Calibri"/>
              </a:defRPr>
            </a:pPr>
            <a:r>
              <a:t>Behavioral Reframes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00000"/>
            <a:ext cx="103632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200000"/>
            <a:ext cx="50000" cy="10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4400" y="1450000"/>
            <a:ext cx="97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7374F"/>
                </a:solidFill>
                <a:latin typeface="Calibri"/>
              </a:rPr>
              <a:t>We do not "smile and dial." </a:t>
            </a:r>
            <a:r>
              <a:rPr sz="1500" b="1">
                <a:solidFill>
                  <a:srgbClr val="3C94D1"/>
                </a:solidFill>
                <a:latin typeface="Calibri"/>
              </a:rPr>
              <a:t>We research and engage.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350000"/>
            <a:ext cx="103632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50000"/>
            <a:ext cx="50000" cy="10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4400" y="2600000"/>
            <a:ext cx="97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7374F"/>
                </a:solidFill>
                <a:latin typeface="Calibri"/>
              </a:rPr>
              <a:t>We do not chase calendar invites. </a:t>
            </a:r>
            <a:r>
              <a:rPr sz="1500" b="1">
                <a:solidFill>
                  <a:srgbClr val="3C94D1"/>
                </a:solidFill>
                <a:latin typeface="Calibri"/>
              </a:rPr>
              <a:t>We create momentum.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00000"/>
            <a:ext cx="103632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500000"/>
            <a:ext cx="50000" cy="10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4400" y="3750000"/>
            <a:ext cx="97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7374F"/>
                </a:solidFill>
                <a:latin typeface="Calibri"/>
              </a:rPr>
              <a:t>We do not send generic follow-ups. </a:t>
            </a:r>
            <a:r>
              <a:rPr sz="1500" b="1">
                <a:solidFill>
                  <a:srgbClr val="3C94D1"/>
                </a:solidFill>
                <a:latin typeface="Calibri"/>
              </a:rPr>
              <a:t>We continue the conversation with value.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650000"/>
            <a:ext cx="10363200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650000"/>
            <a:ext cx="50000" cy="100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4400" y="4900000"/>
            <a:ext cx="97632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7374F"/>
                </a:solidFill>
                <a:latin typeface="Calibri"/>
              </a:rPr>
              <a:t>We do not own one touchpoint. </a:t>
            </a:r>
            <a:r>
              <a:rPr sz="1500" b="1">
                <a:solidFill>
                  <a:srgbClr val="3C94D1"/>
                </a:solidFill>
                <a:latin typeface="Calibri"/>
              </a:rPr>
              <a:t>We own the experience.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11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11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4400" y="510000"/>
            <a:ext cx="8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07374F"/>
                </a:solidFill>
                <a:latin typeface="Calibri"/>
              </a:defRPr>
            </a:pPr>
            <a:r>
              <a:t>What Changes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0000"/>
            <a:ext cx="5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IMMEDIATE CHANGES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4400" y="14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4400" y="14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Rename BDR team to LFG Team across internal communication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400" y="18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4400" y="18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Update Slack channels, org charts, titles, scoreboards, and signatures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4400" y="22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4400" y="22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Shift meeting conversations from activity metrics to pipeline quality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4400" y="26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4400" y="26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Begin training around diagnosis-first outreach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9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4400" y="30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4400" y="30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Push personalized Looms and audit-based outreach as standard practice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3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4400" y="34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4400" y="34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Build market intelligence and competitive analysis 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50000"/>
            <a:ext cx="5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OUTREACH CHANGES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1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94400" y="42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94400" y="42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Less templated outreach, more market-specific observations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5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4400" y="46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94400" y="46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More tailored assets and stronger LinkedIn engagement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49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4400" y="50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94400" y="50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More value before 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11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11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4400" y="510000"/>
            <a:ext cx="9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07374F"/>
                </a:solidFill>
                <a:latin typeface="Calibri"/>
              </a:defRPr>
            </a:pPr>
            <a:r>
              <a:t>Team Development + 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50000"/>
            <a:ext cx="5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TEAM DEVELOPMENT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3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4400" y="14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4400" y="14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Industry education becomes mandatory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400" y="18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4400" y="18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Competitive analysis training becomes part of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1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4400" y="22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4400" y="22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Asset creation becomes part of performance expectations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550000"/>
            <a:ext cx="10363200" cy="37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4400" y="2695000"/>
            <a:ext cx="80000" cy="8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4400" y="2610000"/>
            <a:ext cx="97832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320"/>
              </a:lnSpc>
              <a:defRPr sz="1100" b="0">
                <a:solidFill>
                  <a:srgbClr val="2C2C2C"/>
                </a:solidFill>
                <a:latin typeface="Calibri"/>
              </a:defRPr>
            </a:pPr>
            <a:r>
              <a:t>Coaching shifts from "more activity" to "better execution"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150000"/>
            <a:ext cx="500000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080"/>
              </a:lnSpc>
              <a:defRPr sz="900" b="1">
                <a:solidFill>
                  <a:srgbClr val="3C94D1"/>
                </a:solidFill>
                <a:latin typeface="Calibri"/>
              </a:defRPr>
            </a:pPr>
            <a:r>
              <a:t>SUCCESS LOOKS LIKE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350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0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Higher-Quality</a:t>
            </a:r>
            <a:br/>
            <a:r>
              <a:t>Conversations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5466" y="350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5466" y="380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Better Prepared</a:t>
            </a:r>
            <a:br/>
            <a:r>
              <a:t>Prospects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6532" y="350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6532" y="380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Increased</a:t>
            </a:r>
            <a:br/>
            <a:r>
              <a:t>Show Rates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465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95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Stronger AE Trust</a:t>
            </a:r>
            <a:br/>
            <a:r>
              <a:t>in Outbound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5466" y="465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5466" y="495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Improved</a:t>
            </a:r>
            <a:br/>
            <a:r>
              <a:t>Conversion Rates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6532" y="4650000"/>
            <a:ext cx="3321066" cy="10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6532" y="4950000"/>
            <a:ext cx="3321066" cy="7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560"/>
              </a:lnSpc>
              <a:defRPr sz="1200" b="1">
                <a:solidFill>
                  <a:srgbClr val="07374F"/>
                </a:solidFill>
                <a:latin typeface="Calibri"/>
              </a:defRPr>
            </a:pPr>
            <a:r>
              <a:t>Stronger Talent</a:t>
            </a:r>
            <a:br/>
            <a:r>
              <a:t>Retention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00000"/>
            <a:ext cx="900000" cy="34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8000"/>
            <a:ext cx="9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07374F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4400" y="510000"/>
            <a:ext cx="8000000" cy="3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400"/>
              </a:lnSpc>
              <a:defRPr sz="2000" b="1">
                <a:solidFill>
                  <a:srgbClr val="FFFFFF"/>
                </a:solidFill>
                <a:latin typeface="Calibri"/>
              </a:defRPr>
            </a:pPr>
            <a:r>
              <a:t>Implementation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400" y="2100000"/>
            <a:ext cx="9963200" cy="25000"/>
          </a:xfrm>
          <a:prstGeom prst="rect">
            <a:avLst/>
          </a:prstGeom>
          <a:solidFill>
            <a:srgbClr val="125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00000"/>
            <a:ext cx="207264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JUNE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5720" y="2000000"/>
            <a:ext cx="150000" cy="1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400" y="2400000"/>
            <a:ext cx="1972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43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1: 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400" y="30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Define LFG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400" y="33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Reframe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4400" y="36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Set behavioral standards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040" y="1400000"/>
            <a:ext cx="207264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JULY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48360" y="2000000"/>
            <a:ext cx="150000" cy="1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7040" y="2400000"/>
            <a:ext cx="1972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43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2: Connection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7040" y="30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LinkedIn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7040" y="33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Relationship building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7040" y="36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Account prioritization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9680" y="1400000"/>
            <a:ext cx="207264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AUG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1000" y="2000000"/>
            <a:ext cx="150000" cy="1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9680" y="2400000"/>
            <a:ext cx="1972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43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3: Personalization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9680" y="30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Improved outreach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9680" y="33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Improved gifting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9680" y="36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Improved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400000"/>
            <a:ext cx="207264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SEPT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3640" y="2000000"/>
            <a:ext cx="150000" cy="1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82320" y="2400000"/>
            <a:ext cx="1972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43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4: Diagnosing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2320" y="30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Improved rep audits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82320" y="33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Improved automated audits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4960" y="1400000"/>
            <a:ext cx="2072640" cy="4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EAFF6A"/>
                </a:solidFill>
                <a:latin typeface="Calibri"/>
              </a:defRPr>
            </a:pPr>
            <a:r>
              <a:t>OCT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66280" y="2000000"/>
            <a:ext cx="150000" cy="15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4960" y="2400000"/>
            <a:ext cx="197264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430"/>
              </a:lnSpc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5: Accountability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4960" y="30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Swag at P-Club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4960" y="3300000"/>
            <a:ext cx="1972640" cy="3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0">
                <a:solidFill>
                  <a:srgbClr val="889DA8"/>
                </a:solidFill>
                <a:latin typeface="Calibri"/>
              </a:defRPr>
            </a:pPr>
            <a:r>
              <a:t>Reps held to new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00000" y="2200000"/>
            <a:ext cx="9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1">
                <a:solidFill>
                  <a:srgbClr val="FFFFFF"/>
                </a:solidFill>
                <a:latin typeface="Calibri"/>
              </a:rPr>
              <a:t>"A team viewed internally as </a:t>
            </a:r>
            <a:r>
              <a:rPr sz="2400" b="1">
                <a:solidFill>
                  <a:srgbClr val="EAFF6A"/>
                </a:solidFill>
                <a:latin typeface="Calibri"/>
              </a:rPr>
              <a:t>strategic contributors</a:t>
            </a:r>
            <a:r>
              <a:rPr sz="2400" i="1">
                <a:solidFill>
                  <a:srgbClr val="FFFFFF"/>
                </a:solidFill>
                <a:latin typeface="Calibri"/>
              </a:rPr>
              <a:t>, not appointment setters."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200000"/>
            <a:ext cx="12192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ts val="1200"/>
              </a:lnSpc>
              <a:defRPr sz="1000" b="1">
                <a:solidFill>
                  <a:srgbClr val="889DA8"/>
                </a:solidFill>
                <a:latin typeface="Calibri"/>
              </a:defRPr>
            </a:pPr>
            <a:r>
              <a:t>LFG — LAW FIRM GROWTH SPECIALIST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